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2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497" r:id="rId3"/>
    <p:sldId id="499" r:id="rId4"/>
    <p:sldId id="500" r:id="rId5"/>
    <p:sldId id="501" r:id="rId6"/>
    <p:sldId id="512" r:id="rId7"/>
    <p:sldId id="513" r:id="rId8"/>
    <p:sldId id="505" r:id="rId9"/>
    <p:sldId id="503" r:id="rId10"/>
    <p:sldId id="508" r:id="rId11"/>
    <p:sldId id="507" r:id="rId12"/>
    <p:sldId id="504" r:id="rId13"/>
    <p:sldId id="502" r:id="rId14"/>
    <p:sldId id="506" r:id="rId15"/>
    <p:sldId id="269" r:id="rId16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393" autoAdjust="0"/>
    <p:restoredTop sz="94681"/>
  </p:normalViewPr>
  <p:slideViewPr>
    <p:cSldViewPr>
      <p:cViewPr varScale="1">
        <p:scale>
          <a:sx n="66" d="100"/>
          <a:sy n="66" d="100"/>
        </p:scale>
        <p:origin x="752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49:54.47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299 638 24575,'1'-13'0,"2"1"0,-1-1 0,2 1 0,0-1 0,0 1 0,1 0 0,0 0 0,1 1 0,12-18 0,-7 10 0,15-34 0,-25 51 0,-1 0 0,1 0 0,-1 1 0,1-1 0,-1 0 0,1 0 0,-1 0 0,0 0 0,0 0 0,0 0 0,-1-3 0,1 4 0,0 1 0,0-1 0,0 1 0,-1-1 0,1 1 0,0-1 0,-1 0 0,1 1 0,0-1 0,-1 1 0,1 0 0,-1-1 0,1 1 0,0-1 0,-1 1 0,0 0 0,1-1 0,-1 1 0,1 0 0,-1-1 0,1 1 0,-1 0 0,-1-1 0,0 1 0,-1 0 0,0 0 0,1 0 0,-1 1 0,0-1 0,1 1 0,-1-1 0,0 1 0,1 0 0,-1 0 0,1 0 0,-1 0 0,1 0 0,-4 3 0,-22 16 0,-46 41 0,-9 7 0,-17 16 0,87-77 0,6-10 0,7 1 0,-1 1 0,1 0 0,0 0 0,0 0 0,0-1 0,0 1 0,0 0 0,1 0 0,-1 0 0,0 0 0,0-1 0,1 1 0,-1 0 0,1 0 0,-1 0 0,1 0 0,-1 0 0,1 0 0,1-1 0,17-28 0,0 0 0,-2-1 0,-2-1 0,14-39 0,-27 67 0,-1-1 0,0 1 0,0-1 0,0 1 0,0-1 0,-1 0 0,0 1 0,0-9 0,0 11 0,-1 0 0,1 0 0,-1 1 0,0-1 0,0 0 0,1 1 0,-1-1 0,0 0 0,0 1 0,-1-1 0,1 1 0,0 0 0,0-1 0,-1 1 0,1 0 0,-1 0 0,1 0 0,-1 0 0,1 0 0,-1 0 0,0 0 0,1 0 0,-1 1 0,-2-2 0,1 2 0,0-1 0,1-1 0,-1 1 0,1 0 0,-1-1 0,1 1 0,0-1 0,0 0 0,0 0 0,0 0 0,0 0 0,0 0 0,0 0 0,1 0 0,-1-1 0,1 1 0,-3-5 0,2 3 0,0 0 0,0 0 0,-1 1 0,1 0 0,-1-1 0,-5-4 0,-15-3 0,21 11 0,1 0 0,0-1 0,0 1 0,0 0 0,-1-1 0,1 1 0,0-1 0,0 1 0,0-1 0,0 1 0,0-1 0,0 0 0,0 1 0,0-1 0,0 0 0,0 0 0,0 0 0,1 0 0,-1 0 0,0 0 0,0 0 0,1 0 0,-1 0 0,1 0 0,-1 0 0,1 0 0,0-1 0,-1 1 0,1 0 0,0 0 0,0 0 0,0-3 0,-1 0 0,0 1 0,1-1 0,0 0 0,0 0 0,0 0 0,1 1 0,-1-1 0,1 0 0,0 0 0,0 1 0,0-1 0,0 1 0,1-1 0,-1 1 0,1-1 0,0 1 0,0 0 0,0 0 0,1 0 0,-1 0 0,1 0 0,0 0 0,-1 1 0,1-1 0,0 1 0,0 0 0,1 0 0,-1 0 0,0 0 0,1 1 0,-1-1 0,1 1 0,0 0 0,-1 0 0,1 0 0,0 1 0,0-1 0,-1 1 0,1 0 0,0 0 0,0 0 0,0 0 0,-1 1 0,8 1 0,4 4 0,0 0 0,0 1 0,-1 0 0,25 17 0,13 7 0,-36-22 0,0-2 0,0 0 0,1-1 0,0-1 0,0-1 0,27 4 0,-39-7 0,0 0 0,0-1 0,0 0 0,-1 0 0,1 0 0,0-1 0,0 0 0,0 0 0,-1 0 0,1 0 0,0-1 0,-1 1 0,1-1 0,-1 0 0,0-1 0,1 1 0,-1-1 0,0 0 0,-1 0 0,1 0 0,0 0 0,-1-1 0,0 0 0,0 1 0,0-1 0,0 0 0,-1-1 0,4-5 0,2-15 0,-5 15 0,1 0 0,-1 0 0,2 0 0,7-13 0,-11 22 0,-1 0 0,1-1 0,0 1 0,0 0 0,0 0 0,-1 0 0,1 0 0,1 0 0,-1 0 0,0 0 0,0 1 0,0-1 0,0 0 0,0 1 0,1-1 0,-1 0 0,0 1 0,1 0 0,-1-1 0,0 1 0,1 0 0,-1-1 0,0 1 0,1 0 0,-1 0 0,1 0 0,-1 0 0,0 1 0,1-1 0,-1 0 0,1 1 0,-1-1 0,0 0 0,0 1 0,1 0 0,-1-1 0,0 1 0,0 0 0,2 1 0,2 3 0,-1-1 0,-1 1 0,1 0 0,-1 1 0,0-1 0,0 0 0,0 1 0,-1 0 0,1-1 0,-2 1 0,1 0 0,1 7 0,10 26 0,-9-31 0,1 0 0,0 0 0,0-1 0,1 0 0,0 0 0,1 0 0,-1 0 0,1-1 0,1-1 0,-1 1 0,1-1 0,12 7 0,-7-6 0,-1 0 0,1-1 0,0 0 0,0-1 0,0-1 0,1 0 0,24 2 0,-34-5 0,0 0 0,0 0 0,0-1 0,0 0 0,0 0 0,-1 0 0,1 0 0,0 0 0,0-1 0,-1 0 0,1 0 0,-1 0 0,5-3 0,43-41 0,-9 8 0,9 4 0,2 3 0,1 2 0,66-25 0,-98 46 0,1 2 0,0 1 0,0 0 0,0 2 0,43-1 0,26-3 0,-55 3 0,37 2 0,11-1 0,-73 0 0,-15-2 0,-21-2 0,-2 3 0,0 2 0,-1 1 0,1 1 0,0 1 0,0 1 0,0 2 0,0 0 0,1 2 0,-1 0 0,1 2 0,-41 19 0,61-24 0,-1 0 0,1-1 0,-1 1 0,0-1 0,0 0 0,0-1 0,-1 0 0,1 0 0,0 0 0,0-1 0,0 1 0,-1-2 0,1 1 0,0-1 0,0 0 0,-1 0 0,1 0 0,0-1 0,0 0 0,0 0 0,1-1 0,-1 1 0,1-1 0,-1-1 0,1 1 0,0-1 0,-7-6 0,5 4 0,0 0 0,-1 0 0,0 0 0,0 1 0,0 0 0,-1 1 0,0 0 0,1 0 0,-2 1 0,1 0 0,0 0 0,-1 1 0,1 0 0,-1 1 0,1 0 0,-16 1 0,2 1 0,1 0 0,0 2 0,0 0 0,0 1 0,-35 13 0,32-9 0,17-6 0,-1 0 0,0 1 0,1 0 0,0 1 0,0-1 0,0 2 0,0-1 0,0 1 0,1 0 0,0 1 0,0 0 0,-9 10 0,-2 9 0,1 1 0,1 0 0,1 2 0,-21 53 0,-129 245 0,132-268 0,-71 116 0,88-149 0,15-23 0,-1-1 0,1 1 0,0 0 0,0 0 0,0 0 0,0 0 0,1 0 0,-1 1 0,0-1 0,1 0 0,-1 0 0,1 0 0,0 1 0,0-1 0,0 0 0,0 3 0,1-4 0,-1-1 0,0 1 0,0 0 0,1-1 0,-1 1 0,0-1 0,1 1 0,-1-1 0,0 0 0,1 1 0,-1-1 0,1 1 0,-1-1 0,1 0 0,-1 1 0,1-1 0,-1 0 0,1 1 0,0-1 0,-1 0 0,2 1 0,21-3 0,-11-2 0,0-1 0,0 0 0,-1-1 0,0 0 0,0 0 0,0-1 0,18-17 0,61-66 0,-65 58 0,-2 0 0,-1-2 0,23-46 0,10-16 0,-16 26 0,-26 45 0,1 1 0,27-37 0,-39 58 0,1 0 0,-1 1 0,0-1 0,1 1 0,-1 0 0,1-1 0,0 1 0,0 1 0,0-1 0,0 0 0,0 1 0,0-1 0,0 1 0,1 0 0,-1 0 0,0 1 0,1-1 0,-1 0 0,0 1 0,1 0 0,-1 0 0,1 0 0,-1 0 0,0 1 0,1-1 0,-1 1 0,1 0 0,-1 0 0,0 0 0,0 0 0,0 1 0,0-1 0,0 1 0,0 0 0,0 0 0,0 0 0,0 0 0,-1 0 0,1 1 0,-1-1 0,0 1 0,0 0 0,0-1 0,0 1 0,0 0 0,-1 0 0,1 0 0,-1 1 0,0-1 0,1 0 0,0 7 0,1 35 0,-1 1 0,-8 77 0,5-120 0,0 10 0,-1 1 0,-1-1 0,0 0 0,-1 0 0,0-1 0,-1 1 0,0-1 0,-1 0 0,0 0 0,-1-1 0,-12 15 0,13-17 0,1-1 0,0 0 0,1 1 0,0 0 0,0 0 0,1 1 0,0-1 0,1 1 0,0-1 0,-2 18 0,4-27 0,0 0 0,0 0 0,0 0 0,0 1 0,0-1 0,0 0 0,0 0 0,0 0 0,0 0 0,0 0 0,0 0 0,0 0 0,0 1 0,0-1 0,0 0 0,0 0 0,0 0 0,0 0 0,0 0 0,0 0 0,0 0 0,0 0 0,0 1 0,0-1 0,0 0 0,0 0 0,0 0 0,0 0 0,0 0 0,0 0 0,0 0 0,1 0 0,-1 0 0,0 1 0,0-1 0,0 0 0,0 0 0,0 0 0,0 0 0,0 0 0,0 0 0,0 0 0,1 0 0,-1 0 0,0 0 0,0 0 0,0 0 0,0 0 0,0 0 0,0 0 0,0 0 0,1 0 0,-1 0 0,0 0 0,0 0 0,0 0 0,0 0 0,0 0 0,0 0 0,0 0 0,0 0 0,1 0 0,-1 0 0,7-9 0,7-14 0,41-109 0,31-60 0,-60 137 0,10-19 0,-31 66 0,-1 1 0,1 0 0,0 0 0,1 0 0,0 1 0,12-11 0,-18 16 0,1 0 0,0 0 0,0 1 0,-1-1 0,1 1 0,0-1 0,0 1 0,0-1 0,0 1 0,0-1 0,0 1 0,0 0 0,0 0 0,0-1 0,0 1 0,0 0 0,0 0 0,0 0 0,0 0 0,0 0 0,0 0 0,0 0 0,0 1 0,0-1 0,0 0 0,0 1 0,0-1 0,0 0 0,0 1 0,1 0 0,0 1 0,0 0 0,0 0 0,0 1 0,-1-1 0,1 0 0,-1 1 0,1-1 0,-1 1 0,0-1 0,0 1 0,1 3 0,2 9 0,0 0 0,2 31 0,-3 36 0,-15 161 0,1-81 0,14-131 0,1-27 0,1-19 0,4-49 0,-6 43 0,0-1 0,1 0 0,1 1 0,0 0 0,2 0 0,1 1 0,11-23 0,-3 18 0,1 0 0,39-44 0,-46 56 0,-6 9 0,-1-1 0,1 1 0,0-1 0,0 1 0,0 0 0,6-4 0,-9 8 0,0-1 0,0 1 0,0 0 0,0-1 0,0 1 0,0 0 0,0 0 0,0-1 0,0 1 0,0 0 0,0 0 0,0 0 0,0 0 0,0 1 0,0-1 0,0 0 0,0 0 0,0 1 0,0-1 0,0 0 0,0 1 0,0-1 0,0 1 0,0-1 0,0 1 0,-1-1 0,1 1 0,0 0 0,0 0 0,-1-1 0,1 1 0,0 0 0,-1 0 0,1 0 0,-1 0 0,1-1 0,-1 1 0,1 0 0,-1 0 0,0 0 0,1 2 0,6 19 0,0-1 0,-2 2 0,0-1 0,-1 0 0,0 43 0,-3 54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54:58.6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24575,'50'2'0,"58"11"0,47 1 0,-132-12 0,0 0 0,31 8 0,-30-5 0,48 4 0,-32-6 0,41 8 0,-43-5 0,57 2 0,-85-7 0,1-1 0,-1-1 0,1 0 0,-1 0 0,1-1 0,-1 0 0,0-1 0,0 0 0,0-1 0,17-8 0,-13 5 0,-1 2 0,1 0 0,1 0 0,-1 1 0,1 1 0,-1 1 0,1 0 0,0 1 0,0 0 0,26 3 0,-13 1 0,0 1 0,-1 1 0,1 2 0,45 17 0,-40-14 291,-25-8-622,0 1 0,0-1-1,0 2 1,10 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193BE92-2836-2377-AC03-A2DE9BD92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49BC9794-528F-622F-43DD-4480761AC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030C919C-92B7-D9DB-548B-F07A4AA3A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3746616-91E6-EEB7-1856-D004D3BB5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527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12EE8AE-6B96-A0B7-5B01-1E66F7091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196B1102-F4C9-B3F6-1EBC-67E21A0E1F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48509EEB-322A-5BF0-4BAB-89D92C041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60D25FF-334B-A586-E002-BDB8BEB75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4716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546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CAA661C-EE8E-4550-79FC-6D2DE6283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08A3BE65-ABC2-C31E-F7BF-5074E255A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E1E0FA71-42DC-F866-0B0B-A1E7E3AEB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A24EB81-AFC1-22F2-9431-A4C105BD9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938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5EA6B61-674B-0ABF-F5C3-A72BF284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F22FBED0-DE41-A040-921A-D95B5185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6BB3F754-664A-ECDE-8199-65800D976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CAF3E54-5ADF-52CC-11B5-B7F7837DE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296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504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800" y="-1189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65174" y="2204864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22061" y="2367609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 smtClean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Final </a:t>
            </a: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Year Project Progress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="" xmlns:a16="http://schemas.microsoft.com/office/drawing/2014/main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523674"/>
              </p:ext>
            </p:extLst>
          </p:nvPr>
        </p:nvGraphicFramePr>
        <p:xfrm>
          <a:off x="1654013" y="3330310"/>
          <a:ext cx="6096000" cy="11222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="" xmlns:a16="http://schemas.microsoft.com/office/drawing/2014/main" val="3537270469"/>
                    </a:ext>
                  </a:extLst>
                </a:gridCol>
                <a:gridCol w="3048000">
                  <a:extLst>
                    <a:ext uri="{9D8B030D-6E8A-4147-A177-3AD203B41FA5}">
                      <a16:colId xmlns="" xmlns:a16="http://schemas.microsoft.com/office/drawing/2014/main" val="3305024946"/>
                    </a:ext>
                  </a:extLst>
                </a:gridCol>
              </a:tblGrid>
              <a:tr h="39077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76589833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2301201084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Devansh Rana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417610186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9582063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1370382" y="966870"/>
            <a:ext cx="66082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IN" sz="4000" b="1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Real-Time Traffic Congestion Prediction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51520" y="5733256"/>
            <a:ext cx="85840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b="1" dirty="0" smtClean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</a:t>
            </a: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Mentor</a:t>
            </a:r>
            <a:r>
              <a:rPr lang="en-IN" b="1" dirty="0" smtClean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: </a:t>
            </a:r>
            <a:r>
              <a:rPr lang="en-IN" b="1" dirty="0" err="1"/>
              <a:t>Mr.</a:t>
            </a:r>
            <a:r>
              <a:rPr lang="en-IN" b="1" dirty="0"/>
              <a:t> Love </a:t>
            </a:r>
            <a:r>
              <a:rPr lang="en-IN" b="1" dirty="0" err="1"/>
              <a:t>Porwal</a:t>
            </a:r>
            <a:r>
              <a:rPr lang="en-IN" dirty="0"/>
              <a:t/>
            </a:r>
            <a:br>
              <a:rPr lang="en-IN" dirty="0"/>
            </a:br>
            <a:endParaRPr lang="en-IN" sz="1800" b="1" dirty="0">
              <a:solidFill>
                <a:srgbClr val="0070C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1537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0" name="ContentBox"/>
          <p:cNvSpPr txBox="1"/>
          <p:nvPr/>
        </p:nvSpPr>
        <p:spPr>
          <a:xfrm>
            <a:off x="304800" y="1143000"/>
            <a:ext cx="8534400" cy="48006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70C0"/>
                </a:solidFill>
              </a:rPr>
              <a:t>Project Overview</a:t>
            </a:r>
          </a:p>
          <a:p>
            <a:pPr>
              <a:buNone/>
            </a:pPr>
            <a:endParaRPr lang="en-US" sz="2000" b="1" dirty="0">
              <a:solidFill>
                <a:srgbClr val="0070C0"/>
              </a:solidFill>
            </a:endParaRP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A real-time traffic congestion prediction system that uses deep learning (CNN) to classify road conditions across 6 major Delhi NCR road segments.</a:t>
            </a:r>
          </a:p>
          <a:p>
            <a:pPr>
              <a:buNone/>
            </a:pPr>
            <a:endParaRPr lang="en-US" sz="1600" b="0" dirty="0">
              <a:solidFill>
                <a:srgbClr val="333333"/>
              </a:solidFill>
            </a:endParaRPr>
          </a:p>
          <a:p>
            <a:pPr>
              <a:buNone/>
            </a:pPr>
            <a:r>
              <a:rPr lang="en-US" sz="1800" b="1" dirty="0">
                <a:solidFill>
                  <a:srgbClr val="C00000"/>
                </a:solidFill>
              </a:rPr>
              <a:t>Problem Statement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Urban traffic congestion causes delays, fuel waste, and accidents. Manual monitoring is inadequate for scale.</a:t>
            </a:r>
          </a:p>
          <a:p>
            <a:pPr>
              <a:buNone/>
            </a:pPr>
            <a:endParaRPr lang="en-US" sz="1600" b="0" dirty="0">
              <a:solidFill>
                <a:srgbClr val="333333"/>
              </a:solidFill>
            </a:endParaRPr>
          </a:p>
          <a:p>
            <a:pPr>
              <a:buNone/>
            </a:pPr>
            <a:r>
              <a:rPr lang="en-US" sz="1800" b="1" dirty="0">
                <a:solidFill>
                  <a:srgbClr val="C00000"/>
                </a:solidFill>
              </a:rPr>
              <a:t>Proposed Solution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Deploy a Convolutional Neural Network that processes 24-hour traffic sensor data and predicts congestion level (Free Flow / Moderate / Heavy / Severe) in real time.</a:t>
            </a:r>
          </a:p>
          <a:p>
            <a:pPr>
              <a:buNone/>
            </a:pPr>
            <a:endParaRPr lang="en-US" sz="1600" b="0" dirty="0">
              <a:solidFill>
                <a:srgbClr val="333333"/>
              </a:solidFill>
            </a:endParaRPr>
          </a:p>
          <a:p>
            <a:pPr>
              <a:buNone/>
            </a:pPr>
            <a:r>
              <a:rPr lang="en-US" sz="1800" b="1" dirty="0">
                <a:solidFill>
                  <a:srgbClr val="C00000"/>
                </a:solidFill>
              </a:rPr>
              <a:t>Technologies Used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Python · TensorFlow/Keras · Flask REST API · AIML Chatbot · Chart.js Dashboard</a:t>
            </a:r>
          </a:p>
        </p:txBody>
      </p:sp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543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ContentBox"/>
          <p:cNvSpPr txBox="1"/>
          <p:nvPr/>
        </p:nvSpPr>
        <p:spPr>
          <a:xfrm>
            <a:off x="304800" y="1143000"/>
            <a:ext cx="8534400" cy="48006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70C0"/>
                </a:solidFill>
              </a:rPr>
              <a:t>Specific Objectives</a:t>
            </a:r>
          </a:p>
          <a:p>
            <a:pPr>
              <a:buNone/>
            </a:pPr>
            <a:endParaRPr lang="en-US" sz="2000" b="1" dirty="0">
              <a:solidFill>
                <a:srgbClr val="0070C0"/>
              </a:solidFill>
            </a:endParaRP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Develop a CNN model (Conv2D x3 blocks) that classifies traffic into 4 congestion levels with ≥90% accuracy.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Process 10 real-time traffic features: speed, volume, occupancy, incidents, weather, time encoding, capacity utilization, temperature, and visibility.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Build a Flask REST API that serves live CNN predictions for 6 Delhi NCR road segments, refreshing every 60 seconds.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Integrate an AIML-based conversational chatbot (40+ patterns) to answer traffic queries naturally.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Create an interactive dashboard with a live SVG traffic map, 24-hour history chart, weekly heatmap, and CNN probability visualizations.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Enable the CNN inference simulator to let users adjust input parameters and observe model output in real time.</a:t>
            </a:r>
          </a:p>
        </p:txBody>
      </p:sp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ContentBox"/>
          <p:cNvSpPr txBox="1"/>
          <p:nvPr/>
        </p:nvSpPr>
        <p:spPr>
          <a:xfrm>
            <a:off x="304800" y="1143000"/>
            <a:ext cx="8534400" cy="48006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70C0"/>
                </a:solidFill>
              </a:rPr>
              <a:t>Key Features</a:t>
            </a:r>
          </a:p>
          <a:p>
            <a:pPr>
              <a:buNone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sz="1700" b="1" dirty="0">
                <a:solidFill>
                  <a:srgbClr val="C00000"/>
                </a:solidFill>
              </a:rPr>
              <a:t>1. CNN Prediction Engine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3-block Conv2D architecture (32→64→128 filters) + GlobalAvgPool + Dense head → Softmax(4). ~187K parameters, 91.4% validation accuracy.</a:t>
            </a:r>
          </a:p>
          <a:p>
            <a:pPr>
              <a:buNone/>
            </a:pPr>
            <a:endParaRPr lang="en-US" sz="1600" b="0" dirty="0">
              <a:solidFill>
                <a:srgbClr val="333333"/>
              </a:solidFill>
            </a:endParaRPr>
          </a:p>
          <a:p>
            <a:pPr>
              <a:buNone/>
            </a:pPr>
            <a:r>
              <a:rPr lang="en-US" sz="1700" b="1" dirty="0">
                <a:solidFill>
                  <a:srgbClr val="C00000"/>
                </a:solidFill>
              </a:rPr>
              <a:t>2. Real-Time Dashboard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4-tab UI: Dashboard · CNN Model · History · AI Chat. Live SVG map, donut chart, 24h bar chart, weekly heatmap.</a:t>
            </a:r>
          </a:p>
          <a:p>
            <a:pPr>
              <a:buNone/>
            </a:pPr>
            <a:endParaRPr lang="en-US" sz="1600" b="0" dirty="0">
              <a:solidFill>
                <a:srgbClr val="333333"/>
              </a:solidFill>
            </a:endParaRPr>
          </a:p>
          <a:p>
            <a:pPr>
              <a:buNone/>
            </a:pPr>
            <a:r>
              <a:rPr lang="en-US" sz="1700" b="1" dirty="0">
                <a:solidFill>
                  <a:srgbClr val="C00000"/>
                </a:solidFill>
              </a:rPr>
              <a:t>3. AIML Chatbot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40+ AIML pattern-template pairs with SRAI redirect support. Time-aware responses (rush hour alerts).</a:t>
            </a:r>
          </a:p>
          <a:p>
            <a:pPr>
              <a:buNone/>
            </a:pPr>
            <a:endParaRPr lang="en-US" sz="1600" b="0" dirty="0">
              <a:solidFill>
                <a:srgbClr val="333333"/>
              </a:solidFill>
            </a:endParaRPr>
          </a:p>
          <a:p>
            <a:pPr>
              <a:buNone/>
            </a:pPr>
            <a:r>
              <a:rPr lang="en-US" sz="1700" b="1" dirty="0">
                <a:solidFill>
                  <a:srgbClr val="C00000"/>
                </a:solidFill>
              </a:rPr>
              <a:t>4. Interactive CNN Simulator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6 input sliders (hour, speed, volume, occupancy, weather, incidents). Animated layer-by-layer forward pass visualization with live softmax output.</a:t>
            </a:r>
          </a:p>
          <a:p>
            <a:pPr>
              <a:buNone/>
            </a:pPr>
            <a:endParaRPr lang="en-US" sz="1600" b="0" dirty="0">
              <a:solidFill>
                <a:srgbClr val="333333"/>
              </a:solidFill>
            </a:endParaRPr>
          </a:p>
          <a:p>
            <a:pPr>
              <a:buNone/>
            </a:pPr>
            <a:r>
              <a:rPr lang="en-US" sz="1600" b="1" dirty="0">
                <a:solidFill>
                  <a:srgbClr val="C00000"/>
                </a:solidFill>
              </a:rPr>
              <a:t>5. REST API (Flask): 8 endpoints — /api/predict/all · /api/chat · /api/history · /api/infer · /api/model/info</a:t>
            </a:r>
          </a:p>
        </p:txBody>
      </p:sp>
    </p:spTree>
    <p:extLst>
      <p:ext uri="{BB962C8B-B14F-4D97-AF65-F5344CB8AC3E}">
        <p14:creationId xmlns:p14="http://schemas.microsoft.com/office/powerpoint/2010/main" val="957423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0B33F2B-4274-D144-7093-B867F4CB3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A9527858-67DE-3DF8-FF01-8DB1846AE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="" xmlns:a16="http://schemas.microsoft.com/office/drawing/2014/main" id="{D2CBC630-DA86-8B5C-8CF1-BBD133225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44288"/>
            <a:ext cx="56886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Progress Summary</a:t>
            </a:r>
            <a:endParaRPr lang="en-IN" sz="32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4FB5C432-E63F-6355-19A5-32B65372F4DD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A6D3DC83-45E5-89A4-957B-69C5B50632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E6412DA-6D17-40E5-6A15-8B5AF801558C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ContentBox"/>
          <p:cNvSpPr txBox="1"/>
          <p:nvPr/>
        </p:nvSpPr>
        <p:spPr>
          <a:xfrm>
            <a:off x="304800" y="1143000"/>
            <a:ext cx="8534400" cy="48006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70C0"/>
                </a:solidFill>
              </a:rPr>
              <a:t>Progress Summary</a:t>
            </a:r>
          </a:p>
          <a:p>
            <a:pPr>
              <a:buNone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sz="1800" b="1" dirty="0">
                <a:solidFill>
                  <a:srgbClr val="00AA44"/>
                </a:solidFill>
              </a:rPr>
              <a:t>Completed ✓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CNN model architecture designed and implemented (TensorFlow/Keras)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10-feature traffic data generator with realistic rush-hour simulation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AIML engine with 40+ patterns built in Python (no external AIML library)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Flask REST API with 8 endpoints and background 60s refresh thread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Full-stack dashboard: 4 tabs, live map, charts, chatbot UI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NumPy CNN fallback simulator (works without TensorFlow)</a:t>
            </a:r>
          </a:p>
          <a:p>
            <a:pPr>
              <a:buNone/>
            </a:pPr>
            <a:endParaRPr lang="en-US" sz="1600" b="0" dirty="0">
              <a:solidFill>
                <a:srgbClr val="333333"/>
              </a:solidFill>
            </a:endParaRPr>
          </a:p>
          <a:p>
            <a:pPr>
              <a:buNone/>
            </a:pPr>
            <a:r>
              <a:rPr lang="en-US" sz="1800" b="1" dirty="0">
                <a:solidFill>
                  <a:srgbClr val="FF8800"/>
                </a:solidFill>
              </a:rPr>
              <a:t>In Progress ⚙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Integration of real traffic sensor APIs (HERE Maps / TomTom)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Model fine-tuning on larger real-world dataset (currently synthetic)</a:t>
            </a:r>
          </a:p>
          <a:p>
            <a:pPr>
              <a:buNone/>
            </a:pPr>
            <a:endParaRPr lang="en-US" sz="1600" b="0" dirty="0">
              <a:solidFill>
                <a:srgbClr val="333333"/>
              </a:solidFill>
            </a:endParaRPr>
          </a:p>
          <a:p>
            <a:pPr>
              <a:buNone/>
            </a:pPr>
            <a:r>
              <a:rPr lang="en-US" sz="1800" b="1" dirty="0">
                <a:solidFill>
                  <a:srgbClr val="0070C0"/>
                </a:solidFill>
              </a:rPr>
              <a:t>Planned 📋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Mobile app (React Native) consuming the REST API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PostgreSQL integration for historical data persistence</a:t>
            </a:r>
          </a:p>
        </p:txBody>
      </p:sp>
    </p:spTree>
    <p:extLst>
      <p:ext uri="{BB962C8B-B14F-4D97-AF65-F5344CB8AC3E}">
        <p14:creationId xmlns:p14="http://schemas.microsoft.com/office/powerpoint/2010/main" val="1305621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175C45B-C9D0-DBF5-811F-0F08DB7B9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ACCAFCE0-31E7-9CED-BEF6-9C94A97D7C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="" xmlns:a16="http://schemas.microsoft.com/office/drawing/2014/main" id="{EC8D1C93-2569-153C-C90B-6D82C35C1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77423"/>
            <a:ext cx="89644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Detailed Progress – Development Phase</a:t>
            </a:r>
            <a:endParaRPr lang="en-IN" sz="28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D6161CDA-82E4-E4CE-AB8A-F7E4594878E9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BFB65409-50C0-1C48-4C06-AA7695D3A2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0" name="ContentBox"/>
          <p:cNvSpPr txBox="1"/>
          <p:nvPr/>
        </p:nvSpPr>
        <p:spPr>
          <a:xfrm>
            <a:off x="304800" y="1143000"/>
            <a:ext cx="8534400" cy="48006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70C0"/>
                </a:solidFill>
              </a:rPr>
              <a:t>Detailed Progress – Development Phase</a:t>
            </a:r>
          </a:p>
          <a:p>
            <a:pPr>
              <a:buNone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sz="1700" b="1" dirty="0">
                <a:solidFill>
                  <a:srgbClr val="C00000"/>
                </a:solidFill>
              </a:rPr>
              <a:t>Phase 1 — Data Pipeline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Built TrafficDataGenerator: generates (24, 10, 3) input tensors for 6 Delhi segments.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10 normalized features per timestep, 3 channels (raw, noisy copy, speed-inverted).</a:t>
            </a:r>
          </a:p>
          <a:p>
            <a:pPr>
              <a:buNone/>
            </a:pPr>
            <a:endParaRPr lang="en-US" sz="1600" b="0" dirty="0">
              <a:solidFill>
                <a:srgbClr val="333333"/>
              </a:solidFill>
            </a:endParaRPr>
          </a:p>
          <a:p>
            <a:pPr>
              <a:buNone/>
            </a:pPr>
            <a:r>
              <a:rPr lang="en-US" sz="1700" b="1" dirty="0">
                <a:solidFill>
                  <a:srgbClr val="C00000"/>
                </a:solidFill>
              </a:rPr>
              <a:t>Phase 2 — CNN Model (TensorFlow/Keras)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Block 1: Conv2D(32)x2 + BatchNorm + MaxPool(2,2) + SpatialDropout(0.25)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Block 2: Conv2D(64)x2 + BatchNorm + MaxPool(2,2) + SpatialDropout(0.25)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Block 3: Conv2D(128)x2 + BatchNorm + GlobalAvgPool + Dropout(0.4)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Head: Dense(256, ReLU) &gt; Dense(128, ReLU) &gt; Softmax(4). Adam optimizer, lr=0.001, EarlyStopping.</a:t>
            </a:r>
          </a:p>
          <a:p>
            <a:pPr>
              <a:buNone/>
            </a:pPr>
            <a:endParaRPr lang="en-US" sz="1600" b="0" dirty="0">
              <a:solidFill>
                <a:srgbClr val="333333"/>
              </a:solidFill>
            </a:endParaRPr>
          </a:p>
          <a:p>
            <a:pPr>
              <a:buNone/>
            </a:pPr>
            <a:r>
              <a:rPr lang="en-US" sz="1700" b="1" dirty="0">
                <a:solidFill>
                  <a:srgbClr val="C00000"/>
                </a:solidFill>
              </a:rPr>
              <a:t>Phase 3 — API &amp; Frontend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Flask app with CORS, background prediction thread, 8 REST endpoints.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HTML/CSS/JS dashboard (DM Sans + DM Mono, dark theme, Chart.js, animated SVG map).</a:t>
            </a:r>
          </a:p>
        </p:txBody>
      </p:sp>
    </p:spTree>
    <p:extLst>
      <p:ext uri="{BB962C8B-B14F-4D97-AF65-F5344CB8AC3E}">
        <p14:creationId xmlns:p14="http://schemas.microsoft.com/office/powerpoint/2010/main" val="1302546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ContentBox"/>
          <p:cNvSpPr txBox="1"/>
          <p:nvPr/>
        </p:nvSpPr>
        <p:spPr>
          <a:xfrm>
            <a:off x="304800" y="1061448"/>
            <a:ext cx="8534400" cy="48006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70C0"/>
                </a:solidFill>
              </a:rPr>
              <a:t>Methodology</a:t>
            </a:r>
          </a:p>
          <a:p>
            <a:pPr>
              <a:buNone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sz="1700" b="1" dirty="0">
                <a:solidFill>
                  <a:srgbClr val="0070C0"/>
                </a:solidFill>
              </a:rPr>
              <a:t>Step 1 — Data Collection &amp; Preprocessing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Generate synthetic traffic sensor data using time-pattern model (rush-hour peaks, weekend discounts, weather penalties). 6000 samples, 80/20 train-val split.</a:t>
            </a:r>
          </a:p>
          <a:p>
            <a:pPr>
              <a:buNone/>
            </a:pPr>
            <a:endParaRPr lang="en-US" sz="1600" b="0" dirty="0">
              <a:solidFill>
                <a:srgbClr val="333333"/>
              </a:solidFill>
            </a:endParaRPr>
          </a:p>
          <a:p>
            <a:pPr>
              <a:buNone/>
            </a:pPr>
            <a:r>
              <a:rPr lang="en-US" sz="1700" b="1" dirty="0">
                <a:solidFill>
                  <a:srgbClr val="0070C0"/>
                </a:solidFill>
              </a:rPr>
              <a:t>Step 2 — CNN Training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Input: (24, 10, 3) tensor. Labels: 4-class congestion (0=Free, 1=Moderate, 2=Heavy, 3=Severe). Loss: Sparse Categorical Crossentropy. Callbacks: EarlyStopping + ReduceLROnPlateau.</a:t>
            </a:r>
          </a:p>
          <a:p>
            <a:pPr>
              <a:buNone/>
            </a:pPr>
            <a:endParaRPr lang="en-US" sz="1600" b="0" dirty="0">
              <a:solidFill>
                <a:srgbClr val="333333"/>
              </a:solidFill>
            </a:endParaRPr>
          </a:p>
          <a:p>
            <a:pPr>
              <a:buNone/>
            </a:pPr>
            <a:r>
              <a:rPr lang="en-US" sz="1700" b="1" dirty="0">
                <a:solidFill>
                  <a:srgbClr val="0070C0"/>
                </a:solidFill>
              </a:rPr>
              <a:t>Step 3 — Real-Time Inference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Every 60 seconds: generate realtime samples for all 6 segments &gt; CNN forward pass &gt; cache results &gt; serve via API.</a:t>
            </a:r>
          </a:p>
          <a:p>
            <a:pPr>
              <a:buNone/>
            </a:pPr>
            <a:endParaRPr lang="en-US" sz="1600" b="0" dirty="0">
              <a:solidFill>
                <a:srgbClr val="333333"/>
              </a:solidFill>
            </a:endParaRPr>
          </a:p>
          <a:p>
            <a:pPr>
              <a:buNone/>
            </a:pPr>
            <a:r>
              <a:rPr lang="en-US" sz="1700" b="1" dirty="0">
                <a:solidFill>
                  <a:srgbClr val="0070C0"/>
                </a:solidFill>
              </a:rPr>
              <a:t>Step 4 — AIML Chatbot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Custom Python AIML engine parses XML pattern-template pairs. Normalizes input to uppercase, regex-matches patterns (with wildcard * support), returns template with SRAI redirect resolution.</a:t>
            </a:r>
          </a:p>
          <a:p>
            <a:pPr>
              <a:buNone/>
            </a:pPr>
            <a:endParaRPr lang="en-US" sz="1600" b="0" dirty="0">
              <a:solidFill>
                <a:srgbClr val="333333"/>
              </a:solidFill>
            </a:endParaRPr>
          </a:p>
          <a:p>
            <a:pPr>
              <a:buNone/>
            </a:pPr>
            <a:r>
              <a:rPr lang="en-US" sz="1700" b="1" dirty="0">
                <a:solidFill>
                  <a:srgbClr val="0070C0"/>
                </a:solidFill>
              </a:rPr>
              <a:t>Step 5 — Dashboard Visualization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Chart.js bar/donut charts. SVG animated traffic map (glowing polylines + pulsing dots per segment). CNN layer-animation during inference.</a:t>
            </a:r>
          </a:p>
        </p:txBody>
      </p:sp>
    </p:spTree>
    <p:extLst>
      <p:ext uri="{BB962C8B-B14F-4D97-AF65-F5344CB8AC3E}">
        <p14:creationId xmlns:p14="http://schemas.microsoft.com/office/powerpoint/2010/main" val="1099878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100424"/>
            <a:ext cx="828092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Prototype/Project Flow diagram/Architecture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="" xmlns:a16="http://schemas.microsoft.com/office/drawing/2014/main" id="{BB1AC4FE-9A4F-F464-CA8E-3B900C297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="" xmlns:a16="http://schemas.microsoft.com/office/drawing/2014/main" id="{72AEF02E-64A6-6432-1444-81368AF7F7EA}"/>
                  </a:ext>
                </a:extLst>
              </p14:cNvPr>
              <p14:cNvContentPartPr/>
              <p14:nvPr/>
            </p14:nvContentPartPr>
            <p14:xfrm>
              <a:off x="6087360" y="2475240"/>
              <a:ext cx="646200" cy="333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2AEF02E-64A6-6432-1444-81368AF7F7E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24360" y="2412240"/>
                <a:ext cx="771840" cy="45936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ContentBox"/>
          <p:cNvSpPr txBox="1"/>
          <p:nvPr/>
        </p:nvSpPr>
        <p:spPr>
          <a:xfrm>
            <a:off x="304800" y="1143000"/>
            <a:ext cx="8534400" cy="45720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70C0"/>
                </a:solidFill>
              </a:rPr>
              <a:t>System Architecture</a:t>
            </a:r>
          </a:p>
          <a:p>
            <a:pPr>
              <a:buNone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sz="1700" b="1" dirty="0">
                <a:solidFill>
                  <a:srgbClr val="C00000"/>
                </a:solidFill>
              </a:rPr>
              <a:t>Data Layer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TrafficDataGenerator → (24, 10, 3) tensors  |  10 sensor features  |  6 road segments</a:t>
            </a:r>
          </a:p>
          <a:p>
            <a:pPr>
              <a:buNone/>
            </a:pPr>
            <a:endParaRPr lang="en-US" sz="1600" b="0" dirty="0">
              <a:solidFill>
                <a:srgbClr val="333333"/>
              </a:solidFill>
            </a:endParaRPr>
          </a:p>
          <a:p>
            <a:pPr>
              <a:buNone/>
            </a:pPr>
            <a:r>
              <a:rPr lang="en-US" sz="1700" b="1" dirty="0">
                <a:solidFill>
                  <a:srgbClr val="C00000"/>
                </a:solidFill>
              </a:rPr>
              <a:t>Model Layer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TrafficCNN v2:  Input → Conv Block 1(32) → Conv Block 2(64) → Conv Block 3(128) → GAP → Dense(256) → Dense(128) → Softmax(4)</a:t>
            </a:r>
          </a:p>
          <a:p>
            <a:pPr>
              <a:buNone/>
            </a:pPr>
            <a:endParaRPr lang="en-US" sz="1600" b="0" dirty="0">
              <a:solidFill>
                <a:srgbClr val="333333"/>
              </a:solidFill>
            </a:endParaRPr>
          </a:p>
          <a:p>
            <a:pPr>
              <a:buNone/>
            </a:pPr>
            <a:r>
              <a:rPr lang="en-US" sz="1700" b="1" dirty="0">
                <a:solidFill>
                  <a:srgbClr val="C00000"/>
                </a:solidFill>
              </a:rPr>
              <a:t>API Layer (Flask)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Background thread (60s) → CNN inference → Live cache → REST endpoints → JSON responses</a:t>
            </a:r>
          </a:p>
          <a:p>
            <a:pPr>
              <a:buNone/>
            </a:pPr>
            <a:endParaRPr lang="en-US" sz="1600" b="0" dirty="0">
              <a:solidFill>
                <a:srgbClr val="333333"/>
              </a:solidFill>
            </a:endParaRPr>
          </a:p>
          <a:p>
            <a:pPr>
              <a:buNone/>
            </a:pPr>
            <a:r>
              <a:rPr lang="en-US" sz="1700" b="1" dirty="0">
                <a:solidFill>
                  <a:srgbClr val="C00000"/>
                </a:solidFill>
              </a:rPr>
              <a:t>Frontend Layer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Dashboard Tab: KPI cards + Segment grid + SVG Map + Donut chart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CNN Tab: Layer architecture viewer + Interactive inference simulator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History Tab: 24h bar chart + Weekly heatmap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Chat Tab: AIML chatbot with quick-chips and typing indicator</a:t>
            </a:r>
          </a:p>
          <a:p>
            <a:pPr>
              <a:buNone/>
            </a:pPr>
            <a:endParaRPr lang="en-US" sz="1600" b="0" dirty="0">
              <a:solidFill>
                <a:srgbClr val="333333"/>
              </a:solidFill>
            </a:endParaRPr>
          </a:p>
          <a:p>
            <a:pPr>
              <a:buNone/>
            </a:pPr>
            <a:r>
              <a:rPr lang="en-US" sz="1700" b="1" dirty="0">
                <a:solidFill>
                  <a:srgbClr val="C00000"/>
                </a:solidFill>
              </a:rPr>
              <a:t>AIML Layer: Input → Pattern Match → SRAI → Time-aware Response</a:t>
            </a:r>
          </a:p>
        </p:txBody>
      </p:sp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82CBE56-1D41-7167-8FFB-A09C6DDBB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AFB3A7BE-7862-048E-951C-86CFD388A5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="" xmlns:a16="http://schemas.microsoft.com/office/drawing/2014/main" id="{BF1F4E46-D933-954B-D887-0C743D7A6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133" y="100424"/>
            <a:ext cx="828092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Prototype/Project Flow diagram/Architecture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DF222086-A20A-7049-0744-A17C1E596D3B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3926CD72-25A6-86DC-34B2-F6A291749F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D4D0BEBF-445B-BE7B-3FF6-A71A2B587371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="" xmlns:a16="http://schemas.microsoft.com/office/drawing/2014/main" id="{FC27A688-8646-DB1F-FAA1-AE2FA9844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0" name="ContentBox"/>
          <p:cNvSpPr txBox="1"/>
          <p:nvPr/>
        </p:nvSpPr>
        <p:spPr>
          <a:xfrm>
            <a:off x="304800" y="1143000"/>
            <a:ext cx="8534400" cy="48006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70C0"/>
                </a:solidFill>
              </a:rPr>
              <a:t>CNN Architecture Detail</a:t>
            </a:r>
          </a:p>
          <a:p>
            <a:pPr>
              <a:buNone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sz="1600" b="1" dirty="0">
                <a:solidFill>
                  <a:srgbClr val="0070C0"/>
                </a:solidFill>
              </a:rPr>
              <a:t>Input Shape: (24, 10, 3)   →   Output: 4-Class Softmax</a:t>
            </a:r>
          </a:p>
          <a:p>
            <a:pPr>
              <a:buNone/>
            </a:pPr>
            <a:endParaRPr lang="en-US" sz="1600" b="1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sz="1700" b="1" dirty="0">
                <a:solidFill>
                  <a:srgbClr val="333333"/>
                </a:solidFill>
              </a:rPr>
              <a:t>Layer-by-Layer Breakdown: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Input Layer:         (24 timesteps) × (10 features) × (3 channels)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Conv2D Block 1:     Conv(32,3x3) + BN + ReLU + Conv(32,3x3) + BN + ReLU → MaxPool(2,2) + Drop(0.25)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Conv2D Block 2:     Conv(64,3x3) + BN + ReLU + Conv(64,3x3) + BN + ReLU → MaxPool(2,2) + Drop(0.25)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Conv2D Block 3:     Conv(128,3x3) + BN + ReLU + Conv(128,1x1) + BN + ReLU → GlobalAvgPool + Drop(0.4)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Dense Head:          Dense(256, ReLU) → Dropout(0.5) → Dense(128, ReLU) → Dropout(0.3)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Output:               Dense(4, Softmax)  →  [Free Flow | Moderate | Heavy | Severe]</a:t>
            </a:r>
          </a:p>
          <a:p>
            <a:pPr>
              <a:buNone/>
            </a:pPr>
            <a:endParaRPr lang="en-US" sz="1600" b="0" dirty="0">
              <a:solidFill>
                <a:srgbClr val="333333"/>
              </a:solidFill>
            </a:endParaRPr>
          </a:p>
          <a:p>
            <a:pPr>
              <a:buNone/>
            </a:pPr>
            <a:r>
              <a:rPr lang="en-US" sz="1700" b="1" dirty="0">
                <a:solidFill>
                  <a:srgbClr val="333333"/>
                </a:solidFill>
              </a:rPr>
              <a:t>Training Configuration: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Optimizer: Adam (lr=0.001, clipnorm=1.0)  |  Loss: Sparse Categorical Crossentropy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Regularization: L2(1e-4) on Dense, SpatialDropout2D on Conv blocks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Callbacks: EarlyStopping(patience=10) + ReduceLROnPlateau(factor=0.5, patience=5)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Dataset: 6,000 samples  |  Train:Val = 80:20  |  Accuracy: 91.4%</a:t>
            </a:r>
          </a:p>
        </p:txBody>
      </p:sp>
    </p:spTree>
    <p:extLst>
      <p:ext uri="{BB962C8B-B14F-4D97-AF65-F5344CB8AC3E}">
        <p14:creationId xmlns:p14="http://schemas.microsoft.com/office/powerpoint/2010/main" val="292643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DBD42DB-FF71-D8E6-630F-399C60C5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52FB631E-E469-C80D-C58A-99E545F37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="" xmlns:a16="http://schemas.microsoft.com/office/drawing/2014/main" id="{3B6D9598-AD90-B9CA-8610-998CE22F1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1362D34C-9176-DD2A-8AAF-507BD46BD71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4066F8A4-300F-9AE0-4A5E-2A2D19A8A5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166FAC4-E627-209B-D9A4-20EC84D69C4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="" xmlns:a16="http://schemas.microsoft.com/office/drawing/2014/main" id="{D3A55479-5820-9331-B8CC-0F9A13C7AC18}"/>
                  </a:ext>
                </a:extLst>
              </p14:cNvPr>
              <p14:cNvContentPartPr/>
              <p14:nvPr/>
            </p14:nvContentPartPr>
            <p14:xfrm>
              <a:off x="7203160" y="2489200"/>
              <a:ext cx="484560" cy="34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3A55479-5820-9331-B8CC-0F9A13C7AC1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40520" y="2426200"/>
                <a:ext cx="610200" cy="16056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ContentBox"/>
          <p:cNvSpPr txBox="1"/>
          <p:nvPr/>
        </p:nvSpPr>
        <p:spPr>
          <a:xfrm>
            <a:off x="304800" y="1143000"/>
            <a:ext cx="8534400" cy="48006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70C0"/>
                </a:solidFill>
              </a:rPr>
              <a:t>Project Timeline</a:t>
            </a:r>
          </a:p>
          <a:p>
            <a:pPr>
              <a:buNone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sz="1700" b="1" dirty="0">
                <a:solidFill>
                  <a:srgbClr val="0070C0"/>
                </a:solidFill>
              </a:rPr>
              <a:t>Month 1–2: Research &amp; Design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Literature review on CNN-based traffic prediction, AIML chatbots, Flask API design.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Define project scope: 6 road segments, 4 congestion classes, 10 sensor features.</a:t>
            </a:r>
          </a:p>
          <a:p>
            <a:pPr>
              <a:buNone/>
            </a:pPr>
            <a:endParaRPr lang="en-US" sz="1600" b="0" dirty="0">
              <a:solidFill>
                <a:srgbClr val="333333"/>
              </a:solidFill>
            </a:endParaRPr>
          </a:p>
          <a:p>
            <a:pPr>
              <a:buNone/>
            </a:pPr>
            <a:r>
              <a:rPr lang="en-US" sz="1700" b="1" dirty="0">
                <a:solidFill>
                  <a:srgbClr val="0070C0"/>
                </a:solidFill>
              </a:rPr>
              <a:t>Month 3–4: Data Pipeline &amp; Model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Build TrafficDataGenerator with realistic rush-hour simulation.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Design and train TrafficCNN v2; achieve 91.4% validation accuracy.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Implement NumPy fallback simulator for TF-free environments.</a:t>
            </a:r>
          </a:p>
          <a:p>
            <a:pPr>
              <a:buNone/>
            </a:pPr>
            <a:endParaRPr lang="en-US" sz="1600" b="0" dirty="0">
              <a:solidFill>
                <a:srgbClr val="333333"/>
              </a:solidFill>
            </a:endParaRPr>
          </a:p>
          <a:p>
            <a:pPr>
              <a:buNone/>
            </a:pPr>
            <a:r>
              <a:rPr lang="en-US" sz="1700" b="1" dirty="0">
                <a:solidFill>
                  <a:srgbClr val="0070C0"/>
                </a:solidFill>
              </a:rPr>
              <a:t>Month 5: Backend &amp; API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Flask REST API with 8 endpoints, CORS, background refresh thread (60s), live prediction cache.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AIML engine: custom Python parser with 40+ patterns and SRAI support.</a:t>
            </a:r>
          </a:p>
          <a:p>
            <a:pPr>
              <a:buNone/>
            </a:pPr>
            <a:endParaRPr lang="en-US" sz="1600" b="0" dirty="0">
              <a:solidFill>
                <a:srgbClr val="333333"/>
              </a:solidFill>
            </a:endParaRPr>
          </a:p>
          <a:p>
            <a:pPr>
              <a:buNone/>
            </a:pPr>
            <a:r>
              <a:rPr lang="en-US" sz="1700" b="1" dirty="0">
                <a:solidFill>
                  <a:srgbClr val="0070C0"/>
                </a:solidFill>
              </a:rPr>
              <a:t>Month 6: Frontend &amp; Integration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4-tab dashboard: live SVG map, Chart.js charts, CNN simulator, chatbot UI.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End-to-end testing and QA. Deploy as standalone HTML + Flask server.</a:t>
            </a:r>
          </a:p>
          <a:p>
            <a:pPr>
              <a:buNone/>
            </a:pPr>
            <a:endParaRPr lang="en-US" sz="1600" b="0" dirty="0">
              <a:solidFill>
                <a:srgbClr val="333333"/>
              </a:solidFill>
            </a:endParaRPr>
          </a:p>
          <a:p>
            <a:pPr>
              <a:buNone/>
            </a:pPr>
            <a:r>
              <a:rPr lang="en-US" sz="1600" b="1" dirty="0">
                <a:solidFill>
                  <a:srgbClr val="C00000"/>
                </a:solidFill>
              </a:rPr>
              <a:t>Upcoming: Real sensor APIs (HERE / TomTom) · React Native mobile app · PostgreSQL persistence.</a:t>
            </a:r>
          </a:p>
        </p:txBody>
      </p:sp>
    </p:spTree>
    <p:extLst>
      <p:ext uri="{BB962C8B-B14F-4D97-AF65-F5344CB8AC3E}">
        <p14:creationId xmlns:p14="http://schemas.microsoft.com/office/powerpoint/2010/main" val="3449508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ContentBox"/>
          <p:cNvSpPr txBox="1"/>
          <p:nvPr/>
        </p:nvSpPr>
        <p:spPr>
          <a:xfrm>
            <a:off x="304800" y="996740"/>
            <a:ext cx="8534400" cy="48006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70C0"/>
                </a:solidFill>
              </a:rPr>
              <a:t>Data &amp; Resources</a:t>
            </a:r>
          </a:p>
          <a:p>
            <a:pPr>
              <a:buNone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sz="1700" b="1" dirty="0">
                <a:solidFill>
                  <a:srgbClr val="0070C0"/>
                </a:solidFill>
              </a:rPr>
              <a:t>Input Features (10 per timestep, 24 timesteps)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avg_speed (km/h norm.)  |  vehicle volume (veh/min)  |  road occupancy (%)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incident count  |  weather_score (0=bad, 1=clear)  |  time_sin + time_cos (cyclical hour encoding)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capacity_util (%)  |  temperature (norm.)  |  visibility (norm.)</a:t>
            </a:r>
          </a:p>
          <a:p>
            <a:pPr>
              <a:buNone/>
            </a:pPr>
            <a:endParaRPr lang="en-US" sz="1600" b="0" dirty="0">
              <a:solidFill>
                <a:srgbClr val="333333"/>
              </a:solidFill>
            </a:endParaRPr>
          </a:p>
          <a:p>
            <a:pPr>
              <a:buNone/>
            </a:pPr>
            <a:r>
              <a:rPr lang="en-US" sz="1700" b="1" dirty="0">
                <a:solidFill>
                  <a:srgbClr val="0070C0"/>
                </a:solidFill>
              </a:rPr>
              <a:t>Dataset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6,000 synthetic samples generated via physics-inspired time-pattern model.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Class distribution: ~25% Free Flow, ~30% Moderate, ~28% Heavy, ~17% Severe.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Train/Validation split: 4,800 / 1,200 (80/20, stratified).</a:t>
            </a:r>
          </a:p>
          <a:p>
            <a:pPr>
              <a:buNone/>
            </a:pPr>
            <a:endParaRPr lang="en-US" sz="1600" b="0" dirty="0">
              <a:solidFill>
                <a:srgbClr val="333333"/>
              </a:solidFill>
            </a:endParaRPr>
          </a:p>
          <a:p>
            <a:pPr>
              <a:buNone/>
            </a:pPr>
            <a:r>
              <a:rPr lang="en-US" sz="1700" b="1" dirty="0">
                <a:solidFill>
                  <a:srgbClr val="0070C0"/>
                </a:solidFill>
              </a:rPr>
              <a:t>Technology Stack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ML: Python 3.10, TensorFlow 2.12, Keras, NumPy, scikit-learn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Backend: Flask 2.3, Flask-CORS, threading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Frontend: HTML5, CSS3, Vanilla JS, Chart.js 4.4, DM Sans/Mono fonts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Chatbot: Custom Python AIML 1.0 engine (no external library required)</a:t>
            </a:r>
          </a:p>
          <a:p>
            <a:pPr>
              <a:buNone/>
            </a:pPr>
            <a:endParaRPr lang="en-US" sz="1600" b="0" dirty="0">
              <a:solidFill>
                <a:srgbClr val="333333"/>
              </a:solidFill>
            </a:endParaRPr>
          </a:p>
          <a:p>
            <a:pPr>
              <a:buNone/>
            </a:pPr>
            <a:r>
              <a:rPr lang="en-US" sz="1600" b="1" dirty="0">
                <a:solidFill>
                  <a:srgbClr val="0070C0"/>
                </a:solidFill>
              </a:rPr>
              <a:t>Segments: NH-48 Delhi-Gurgaon · Ring Road · Delhi-Meerut Exp. · Airport Rd · Outer Ring · NH-9 Noida</a:t>
            </a:r>
          </a:p>
        </p:txBody>
      </p:sp>
    </p:spTree>
    <p:extLst>
      <p:ext uri="{BB962C8B-B14F-4D97-AF65-F5344CB8AC3E}">
        <p14:creationId xmlns:p14="http://schemas.microsoft.com/office/powerpoint/2010/main" val="3449068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976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61173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3200" b="1" kern="1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Usecases</a:t>
            </a: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&amp; Scope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ContentBox"/>
          <p:cNvSpPr txBox="1"/>
          <p:nvPr/>
        </p:nvSpPr>
        <p:spPr>
          <a:xfrm>
            <a:off x="304800" y="1080000"/>
            <a:ext cx="8534400" cy="49000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70C0"/>
                </a:solidFill>
              </a:rPr>
              <a:t>Project Use Cases &amp; Scope</a:t>
            </a:r>
          </a:p>
          <a:p>
            <a:pPr>
              <a:buNone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sz="1650" b="1" dirty="0">
                <a:solidFill>
                  <a:srgbClr val="0070C0"/>
                </a:solidFill>
              </a:rPr>
              <a:t>Use Cases</a:t>
            </a:r>
          </a:p>
          <a:p>
            <a:pPr>
              <a:buNone/>
            </a:pPr>
            <a:endParaRPr lang="en-US" sz="1650" b="1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sz="1550" b="1" dirty="0">
                <a:solidFill>
                  <a:srgbClr val="C00000"/>
                </a:solidFill>
              </a:rPr>
              <a:t>1. Daily Commuters</a:t>
            </a:r>
          </a:p>
          <a:p>
            <a:pPr marL="457200" indent="-457200">
              <a:buChar char="•"/>
            </a:pPr>
            <a:r>
              <a:rPr lang="en-US" sz="1450" b="0" dirty="0">
                <a:solidFill>
                  <a:srgbClr val="333333"/>
                </a:solidFill>
              </a:rPr>
              <a:t>Check live congestion before travel. Get chatbot advice on best travel times and alternate routes.</a:t>
            </a:r>
          </a:p>
          <a:p>
            <a:pPr>
              <a:buNone/>
            </a:pPr>
            <a:endParaRPr lang="en-US" sz="1450" b="0" dirty="0">
              <a:solidFill>
                <a:srgbClr val="333333"/>
              </a:solidFill>
            </a:endParaRPr>
          </a:p>
          <a:p>
            <a:pPr>
              <a:buNone/>
            </a:pPr>
            <a:r>
              <a:rPr lang="en-US" sz="1550" b="1" dirty="0">
                <a:solidFill>
                  <a:srgbClr val="C00000"/>
                </a:solidFill>
              </a:rPr>
              <a:t>2. Traffic Control Authorities</a:t>
            </a:r>
          </a:p>
          <a:p>
            <a:pPr marL="457200" indent="-457200">
              <a:buChar char="•"/>
            </a:pPr>
            <a:r>
              <a:rPr lang="en-US" sz="1450" b="0" dirty="0">
                <a:solidFill>
                  <a:srgbClr val="333333"/>
                </a:solidFill>
              </a:rPr>
              <a:t>Monitor all segments simultaneously via dashboard. Identify severe bottlenecks for signal optimization.</a:t>
            </a:r>
          </a:p>
          <a:p>
            <a:pPr>
              <a:buNone/>
            </a:pPr>
            <a:endParaRPr lang="en-US" sz="1450" b="0" dirty="0">
              <a:solidFill>
                <a:srgbClr val="333333"/>
              </a:solidFill>
            </a:endParaRPr>
          </a:p>
          <a:p>
            <a:pPr>
              <a:buNone/>
            </a:pPr>
            <a:r>
              <a:rPr lang="en-US" sz="1550" b="1" dirty="0">
                <a:solidFill>
                  <a:srgbClr val="C00000"/>
                </a:solidFill>
              </a:rPr>
              <a:t>3. Smart City Integration</a:t>
            </a:r>
          </a:p>
          <a:p>
            <a:pPr marL="457200" indent="-457200">
              <a:buChar char="•"/>
            </a:pPr>
            <a:r>
              <a:rPr lang="en-US" sz="1450" b="0" dirty="0">
                <a:solidFill>
                  <a:srgbClr val="333333"/>
                </a:solidFill>
              </a:rPr>
              <a:t>REST API can be consumed by smart traffic signals, emergency dispatch systems, or ride-sharing apps.</a:t>
            </a:r>
          </a:p>
          <a:p>
            <a:pPr>
              <a:buNone/>
            </a:pPr>
            <a:endParaRPr lang="en-US" sz="1450" b="0" dirty="0">
              <a:solidFill>
                <a:srgbClr val="333333"/>
              </a:solidFill>
            </a:endParaRPr>
          </a:p>
          <a:p>
            <a:pPr>
              <a:buNone/>
            </a:pPr>
            <a:r>
              <a:rPr lang="en-US" sz="1550" b="1" dirty="0">
                <a:solidFill>
                  <a:srgbClr val="C00000"/>
                </a:solidFill>
              </a:rPr>
              <a:t>4. Research &amp; Education</a:t>
            </a:r>
          </a:p>
          <a:p>
            <a:pPr marL="457200" indent="-457200">
              <a:buChar char="•"/>
            </a:pPr>
            <a:r>
              <a:rPr lang="en-US" sz="1450" b="0" dirty="0">
                <a:solidFill>
                  <a:srgbClr val="333333"/>
                </a:solidFill>
              </a:rPr>
              <a:t>Interactive CNN simulator demonstrates machine learning in a real-world context for students.</a:t>
            </a:r>
          </a:p>
          <a:p>
            <a:pPr>
              <a:buNone/>
            </a:pPr>
            <a:endParaRPr lang="en-US" sz="1450" b="0" dirty="0">
              <a:solidFill>
                <a:srgbClr val="333333"/>
              </a:solidFill>
            </a:endParaRPr>
          </a:p>
          <a:p>
            <a:pPr>
              <a:buNone/>
            </a:pPr>
            <a:r>
              <a:rPr lang="en-US" sz="1650" b="1" dirty="0">
                <a:solidFill>
                  <a:srgbClr val="0070C0"/>
                </a:solidFill>
              </a:rPr>
              <a:t>Scope</a:t>
            </a:r>
          </a:p>
          <a:p>
            <a:pPr marL="457200" indent="-457200">
              <a:buChar char="•"/>
            </a:pPr>
            <a:r>
              <a:rPr lang="en-US" sz="1500" b="0" dirty="0">
                <a:solidFill>
                  <a:srgbClr val="333333"/>
                </a:solidFill>
              </a:rPr>
              <a:t>Current: 6 Delhi NCR segments, synthetic data, 4-class CNN classification.</a:t>
            </a:r>
          </a:p>
          <a:p>
            <a:pPr marL="457200" indent="-457200">
              <a:buChar char="•"/>
            </a:pPr>
            <a:r>
              <a:rPr lang="en-US" sz="1500" b="0" dirty="0">
                <a:solidFill>
                  <a:srgbClr val="333333"/>
                </a:solidFill>
              </a:rPr>
              <a:t>Extended: Real sensor APIs, city-wide deployment, mobile app. Out of Scope: camera feeds, hardware.</a:t>
            </a:r>
          </a:p>
        </p:txBody>
      </p:sp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ContentBox"/>
          <p:cNvSpPr txBox="1"/>
          <p:nvPr/>
        </p:nvSpPr>
        <p:spPr>
          <a:xfrm>
            <a:off x="304800" y="1143000"/>
            <a:ext cx="8534400" cy="48006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70C0"/>
                </a:solidFill>
              </a:rPr>
              <a:t>Expected Results &amp; Impact</a:t>
            </a:r>
          </a:p>
          <a:p>
            <a:pPr>
              <a:buNone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sz="1800" b="1" dirty="0">
                <a:solidFill>
                  <a:srgbClr val="0070C0"/>
                </a:solidFill>
              </a:rPr>
              <a:t>Predicted Outcomes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CNN model accuracy: ≥91% across all 4 congestion classes on real-world data.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Average inference latency: &lt;50ms per segment prediction.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Dashboard load time: &lt;2 seconds on standard broadband.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Chatbot intent recognition: &gt;95% on trained AIML patterns.</a:t>
            </a:r>
          </a:p>
          <a:p>
            <a:pPr>
              <a:buNone/>
            </a:pPr>
            <a:endParaRPr lang="en-US" sz="1600" b="0" dirty="0">
              <a:solidFill>
                <a:srgbClr val="333333"/>
              </a:solidFill>
            </a:endParaRPr>
          </a:p>
          <a:p>
            <a:pPr>
              <a:buNone/>
            </a:pPr>
            <a:r>
              <a:rPr lang="en-US" sz="1800" b="1" dirty="0">
                <a:solidFill>
                  <a:srgbClr val="C00000"/>
                </a:solidFill>
              </a:rPr>
              <a:t>Social Impact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Reduced commute times by 15–25% if drivers use optimal route suggestions.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Lower fuel consumption and CO₂ emissions by avoiding congested routes.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Faster emergency vehicle response via congestion-aware routing.</a:t>
            </a:r>
          </a:p>
          <a:p>
            <a:pPr>
              <a:buNone/>
            </a:pPr>
            <a:endParaRPr lang="en-US" sz="1600" b="0" dirty="0">
              <a:solidFill>
                <a:srgbClr val="333333"/>
              </a:solidFill>
            </a:endParaRPr>
          </a:p>
          <a:p>
            <a:pPr>
              <a:buNone/>
            </a:pPr>
            <a:r>
              <a:rPr lang="en-US" sz="1800" b="1" dirty="0">
                <a:solidFill>
                  <a:srgbClr val="C00000"/>
                </a:solidFill>
              </a:rPr>
              <a:t>Technical Contributions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Novel use of Conv2D layers for spatial-temporal traffic pattern extraction.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Lightweight AIML engine with no external dependencies — deployable anywhere.</a:t>
            </a:r>
          </a:p>
          <a:p>
            <a:pPr marL="457200" indent="-457200">
              <a:buChar char="•"/>
            </a:pPr>
            <a:r>
              <a:rPr lang="en-US" sz="1600" b="0" dirty="0">
                <a:solidFill>
                  <a:srgbClr val="333333"/>
                </a:solidFill>
              </a:rPr>
              <a:t>Fully modular architecture: data generator, CNN model, API, and frontend are independently replaceable.</a:t>
            </a:r>
          </a:p>
          <a:p>
            <a:pPr>
              <a:buNone/>
            </a:pPr>
            <a:endParaRPr lang="en-US" sz="1600" b="0" dirty="0">
              <a:solidFill>
                <a:srgbClr val="333333"/>
              </a:solidFill>
            </a:endParaRPr>
          </a:p>
          <a:p>
            <a:pPr>
              <a:buNone/>
            </a:pPr>
            <a:r>
              <a:rPr lang="en-US" sz="1600" b="1" dirty="0">
                <a:solidFill>
                  <a:srgbClr val="0070C0"/>
                </a:solidFill>
              </a:rPr>
              <a:t>Future Scope: LSTM/Transformer hybrid model; Multi-city federated learning deployment.</a:t>
            </a:r>
          </a:p>
        </p:txBody>
      </p:sp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6465</TotalTime>
  <Words>1867</Words>
  <Application>Microsoft Office PowerPoint</Application>
  <PresentationFormat>On-screen Show (4:3)</PresentationFormat>
  <Paragraphs>252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Cambria</vt:lpstr>
      <vt:lpstr>Garamond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devansh</cp:lastModifiedBy>
  <cp:revision>315</cp:revision>
  <cp:lastPrinted>2022-09-05T08:43:44Z</cp:lastPrinted>
  <dcterms:created xsi:type="dcterms:W3CDTF">2020-01-16T09:05:56Z</dcterms:created>
  <dcterms:modified xsi:type="dcterms:W3CDTF">2026-04-10T06:59:52Z</dcterms:modified>
</cp:coreProperties>
</file>